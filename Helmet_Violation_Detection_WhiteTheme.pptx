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73152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RESEARCH PUBLICATION • ICETIST 2026 (PAPER ID: 375)</a:t>
            </a:r>
          </a:p>
          <a:p>
            <a:pPr>
              <a:defRPr sz="3200" b="1">
                <a:solidFill>
                  <a:srgbClr val="0F172A"/>
                </a:solidFill>
                <a:latin typeface="Segoe UI"/>
              </a:defRPr>
            </a:pPr>
            <a:r>
              <a:t>Automated Helmet Violation Detection</a:t>
            </a:r>
            <a:br/>
            <a:r>
              <a:t>&amp; E-Challan Generation System</a:t>
            </a:r>
          </a:p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A CCTV-Robust 4-Stage Cascade Computer Vision Pipeline with ByteTrack, EasyOCR, and Next.js / Express SaaS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4663440"/>
            <a:ext cx="978408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Presenter: Prakash Raj A  |  B.E. Artificial Intelligence &amp; Machine Learning  |  St. Joseph's College of Engineering, Chennai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Tech Stack: Ultralytics YOLOv8s • ByteTrack • EasyOCR • Next.js 14 • Node.js/Express • MongoDB / Standalone JSON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01 / BACKGROUND &amp; CHALLENGES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The Real-World Enforcement Gap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Why existing computer vision traffic solutions break down when deployed on actual streets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Adverse CCTV Degradation</a:t>
            </a:r>
          </a:p>
          <a:p>
            <a:br/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Standard vision models are trained on clean 4K daylight photos. On real CCTV streams, night darkness, heavy rainfall, and vehicle motion blur cause baseline accuracy to collapse by over 50%.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071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Segoe UI"/>
              </a:defRPr>
            </a:pPr>
            <a:r>
              <a:t>02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Duplicate Video Fines</a:t>
            </a:r>
          </a:p>
          <a:p>
            <a:br/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A CCTV camera records at 30 FPS. Simple frame-by-frame detectors issue 90 repeated fines to the exact same motorcycle in a 3-second pass because they lack persistent multi-frame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071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  <a:latin typeface="Segoe UI"/>
              </a:defRPr>
            </a:pPr>
            <a:r>
              <a:t>03</a:t>
            </a:r>
          </a:p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Legal False-Positive Risk</a:t>
            </a:r>
          </a:p>
          <a:p>
            <a:br/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Automated e-challans have legal consequences. Low-confidence AI guesses cannot legally fine citizens without an auditable verification workflow and a human-in-the-loop review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02 / SYSTEM ARCHITECTURE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End-to-End Pipeline Workflow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How traffic video travels from live camera ingest to authenticated police e-challan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1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CCTV Video Ingest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RTSP Stream / Uploaded MP4 / Traffic Images (30 FPS)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2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Two-Wheeler Detector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YOLOv8s filters cars/pedestrians, crops motorcycle bbox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146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3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Rider &amp; Occupant Check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Localizes riders; counts passengers (&gt;=3 -&gt; Triple Riding)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8308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4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Helmet Classifier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Fine-grained classification: WithHelmet vs. WithoutHelmet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5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License Plate + OCR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High-res 960px plate detection -&gt; EasyOCR + TN regex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023360"/>
            <a:ext cx="25146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16052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6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ByteTrack Tracker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Kalman filter associates vehicle ID across frames (1 fine/bike)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023360"/>
            <a:ext cx="2514600" cy="2103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6052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7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Confidence Gate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Conf &gt;= 0.75 -&gt; Auto-Fine | Conf &lt; 0.75 -&gt; Human Review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023360"/>
            <a:ext cx="2514600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160520"/>
            <a:ext cx="2148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8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Police SaaS Portal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Next.js 14 dashboard logs violation, evidence &amp; audit 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03 / COMPUTER VISION ENGINE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The 4-Stage Cascade Architecture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Why 4 specialized YOLO models significantly outperform a single monolithic detector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STAGE 1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Two-Wheeler Detector</a:t>
            </a:r>
          </a:p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Input: 640 x 640 px</a:t>
            </a:r>
            <a:br/>
            <a:r>
              <a:t>Class: twowheeler</a:t>
            </a:r>
            <a:br/>
            <a:r>
              <a:t>Role: Initial Scene Filter</a:t>
            </a:r>
            <a:br/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Eliminates 75% of background noise by localizing only motorcycles and scooters. Cars, buses, and pedestrians are discarded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STAGE 2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Rider Detector</a:t>
            </a:r>
          </a:p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Input: 640 x 640 px</a:t>
            </a:r>
            <a:br/>
            <a:r>
              <a:t>Class: rider</a:t>
            </a:r>
            <a:br/>
            <a:r>
              <a:t>Role: Rider Localization &amp; Count</a:t>
            </a:r>
            <a:br/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Detects individual rider bounding boxes within the bike crop. Counts occupant coordinates: rider_count &gt;= 3 flags MV Act Sec 128 (Triple Riding).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STAGE 3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Helmet Classifier</a:t>
            </a:r>
          </a:p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Input: 640 x 640 px</a:t>
            </a:r>
            <a:br/>
            <a:r>
              <a:t>Class: WithHelmet, WithoutHelmet</a:t>
            </a:r>
            <a:br/>
            <a:r>
              <a:t>Role: Violation Classifier</a:t>
            </a:r>
            <a:br/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High-precision classifier distinguishing certified helmets from caps, turbans, and bare heads. Triggers enforcement cascade only if WithoutHelmet is detected.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STAGE 4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License Plate Detector</a:t>
            </a:r>
          </a:p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Input: 960 x 960 px</a:t>
            </a:r>
            <a:br/>
            <a:r>
              <a:t>Class: Plate</a:t>
            </a:r>
            <a:br/>
            <a:r>
              <a:t>Role: High-Res Plate Localization</a:t>
            </a:r>
            <a:br/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Plates are tiny objects (50x smaller than vehicles). Higher 960px input resolution preserves sharpness for downstream EasyOCR.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04 / RESEARCH NOVELTY (ICETIST 2026)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CCTV Degradation-Aware Training &amp; Benchmark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Synthetically modeling adverse weather and darkness to ensure real-world field reliability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SYNTHETIC DEGRADATION MODELING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Night / Dark CCTV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Non-linear gamma darkening (gamma=2.5) + Gaussian sensor noise N(0, 6^2). Retrained with aggressive HSV brightness jitter (hsv_v=0.6).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Monsoon Rain Streaks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300 synthetic linear streaks overlaid with contrast fading, simulating monsoon rain obstructing camera lenses.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High-Speed Motion Blur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15-pixel horizontal directional filter simulating fast-moving vehicles and camera vibration.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JPEG Video Compression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Low-bitrate codec compression (Quality=15) typical of municipal CCTV storage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76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EMPIRICAL BENCHMARK RESULTS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Evaluation of Standard Baseline YOLO vs. Degradation-Augmented YOLO: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468880"/>
          <a:ext cx="487649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97280"/>
                <a:gridCol w="1097280"/>
                <a:gridCol w="1127455"/>
              </a:tblGrid>
              <a:tr h="5638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Improvement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Clean Daylight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0.758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+1.6%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Pitch-Dark 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0.591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+54.7%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Motion Blur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+45.8%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Monsoon 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+34.9%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JPEG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+33.6%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05 / VIDEO TRACKING &amp; DEDUPLICATION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ByteTrack Multi-Object Tracking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Maintaining persistent vehicle identity across frames to prevent duplicate legal fines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A. THE DUPLICATE FINE PROBLEM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Naive Frame Detectors Fail</a:t>
            </a:r>
          </a:p>
          <a:p>
            <a:br/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 vehicle passing a 30 FPS camera is visible for 3 seconds (90 frames). Without tracking, the computer vision model would trigger 90 distinct e-challans for a single incident.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B. KALMAN FILTER PREDICTION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Motion Trajectory Estimation</a:t>
            </a:r>
          </a:p>
          <a:p>
            <a:br/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ByteTrack maintains an 8-dimensional state vector (x, y, a, h, vx, vy, va, vh) per vehicle, predicting where each motorcycle will be in the next frame even during camera jitter.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C. TWO-STAGE HUNGARIAN MATCHING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Low &amp; High Confidence Association</a:t>
            </a:r>
          </a:p>
          <a:p>
            <a:br/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Unlike DeepSORT, ByteTrack associates both high-confidence and low-confidence detections. If a rider is briefly blocked by a bus, their Track ID is preserved.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D. EVIDENCE AGGREGATION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Single Best Evidence Packet</a:t>
            </a:r>
          </a:p>
          <a:p>
            <a:br/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Across all 90 tracked frames, ByteTrack picks the sharpest license plate crop and the highest-confidence helmet violation frame, generating exactly 1 legal challan.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06 / TEXT RECOGNITION &amp; VALIDATION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License Plate OCR &amp; Regex Gate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Extracting vehicle registration numbers with automated font error correction and format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PHASE 01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High-Res Plate Crop</a:t>
            </a:r>
          </a:p>
          <a:p>
            <a:br/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Stage 4 isolates the license plate region at 960px resolution, applying bilateral filtering to reduce road dust noise while preserving character edges.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PHASE 02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EasyOCR Engine</a:t>
            </a:r>
          </a:p>
          <a:p>
            <a:br/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Uses CRAFT (Character Region Awareness) to localize text characters and ResNet-LSTM-CTC network for sequential character recognition on outdoor metallic plates.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PHASE 03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Font Ambiguity Correction</a:t>
            </a:r>
          </a:p>
          <a:p>
            <a:br/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Indian HSRP plates frequently confuse lookalike characters. Rule engine auto-corrects: 'O' -&gt; '0' in number blocks, 'B' -&gt; '8', 'I' -&gt; '1', 'Z' -&gt; '2'.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PHASE 04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Tamil Nadu HSRP Regex Gate</a:t>
            </a:r>
          </a:p>
          <a:p>
            <a:br/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Strict state format matching:</a:t>
            </a:r>
            <a:br/>
            <a:r>
              <a:t>^[A-Z]{2}\s?\d{2}\s?[A-Z]{1,3}\s?\d{4}$</a:t>
            </a:r>
            <a:br/>
            <a:r>
              <a:t>(e.g., TN 09 BX 9876). Rejects unreadable noise before drafting fines.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07 / ETHICAL AI &amp; LEGAL COMPLIANCE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Confidence-Based Abstention &amp; Human Review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Addressing real-world legal liability: zero false-positive fines dispatched to innocent citizens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PATH A: AUTOMATED E-CHALLAN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Criterion: Confidence &gt;= 0.75 AND Valid TN Plate Format</a:t>
            </a:r>
          </a:p>
          <a:p>
            <a:br/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• Helmet classifier confidence &gt;= 75%</a:t>
            </a:r>
            <a:br/>
            <a:r>
              <a:t>• Plate OCR successfully validates state HSRP format</a:t>
            </a:r>
            <a:br/>
            <a:r>
              <a:t>• Vehicle track duration &gt;= 5 consecutive frames</a:t>
            </a:r>
            <a:br/>
            <a:br/>
            <a:r>
              <a:t>Result:</a:t>
            </a:r>
            <a:br/>
            <a:r>
              <a:t>-&gt; Direct automated e-challan generation (Rs. 1,000 fine)</a:t>
            </a:r>
            <a:br/>
            <a:r>
              <a:t>-&gt; Evidence frame + plate crop archived to police database</a:t>
            </a:r>
            <a:br/>
            <a:r>
              <a:t>-&gt; Auto-logged into E-Challan Registry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936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5309"/>
                </a:solidFill>
                <a:latin typeface="Segoe UI"/>
              </a:defRPr>
            </a:pPr>
            <a:r>
              <a:t>PATH B: HUMAN-IN-THE-LOOP REVIEW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Criterion: Confidence &lt; 0.75 OR Ambiguous / Occluded Plate</a:t>
            </a:r>
          </a:p>
          <a:p>
            <a:br/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• Low lighting or partial obstruction creates uncertain AI score</a:t>
            </a:r>
            <a:br/>
            <a:r>
              <a:t>• Plate contains unreadable characters due to mud/glare</a:t>
            </a:r>
            <a:br/>
            <a:r>
              <a:t>• System ABSTAINS rather than guessing falsely</a:t>
            </a:r>
            <a:br/>
            <a:br/>
            <a:r>
              <a:t>Result:</a:t>
            </a:r>
            <a:br/>
            <a:r>
              <a:t>-&gt; Incident routed to Police Review Queue (/review)</a:t>
            </a:r>
            <a:br/>
            <a:r>
              <a:t>-&gt; Sub-Inspector inspects high-res evidence crop</a:t>
            </a:r>
            <a:br/>
            <a:r>
              <a:t>-&gt; One-click 'Confirm' or 'Dismiss' ensures 100% legal reliability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08 / FULL-STACK PLATFORM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Production E-Challan Web Architecture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Modern Next.js 14, Node.js Express, and resilient data storage supporting law enforcement workflows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44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TIER 1: FRONTEND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Next.js 14 App Router + React 18</a:t>
            </a:r>
          </a:p>
          <a:p>
            <a:br/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Key Deliverables: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Executive Command Dashboard (Live stats &amp; counters)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Live Media Inference (/upload: video &amp; image processing)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Interactive E-Challan Registry (/violations with inspect modal)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Police Review Queue (/review: human confirmation portal)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Analytics &amp; Violations Breakdown (/statistics visual charts)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071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44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TIER 2: BACKEND API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Node.js + Express REST Server</a:t>
            </a:r>
          </a:p>
          <a:p>
            <a:br/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Key Deliverables: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POST /api/upload: Multipart media ingest &amp; pipeline trigger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GET /api/violations: Paginated querying with status filters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GET /api/violations/stats: Aggregated violation metrics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PATCH /api/violations/:id: Officer review status updates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Static Evidence File Server (/uploads directory)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071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449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TIER 3: DATA &amp; STORAGE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MongoDB + Dual JSON Fallback</a:t>
            </a:r>
          </a:p>
          <a:p>
            <a:br/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Key Deliverables: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MongoDB Mongoose models with strict schema validation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Resilient Standalone JSON Store (dataStore.js fallback)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Zero crash architecture: runs seamlessly offline or in cloud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Audit Trail: tracks reviewedBy officer and review timestamps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24 Realistic Seed Records ready for instant live demonstration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09 / QUANTITATIVE PERFORMANCE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Model Evaluation &amp; Benchmark Metrics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Verified performance across all sub-models and real-time inference latency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858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1188720"/>
                <a:gridCol w="1188720"/>
                <a:gridCol w="1188720"/>
              </a:tblGrid>
              <a:tr h="8961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Detector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mAP@50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1. Two-Wheeler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twowheeler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0.891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2. Rider Detector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0.746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3. Helmet 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With / Without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0.817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0.849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4. License Plate (960px)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0.873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645920"/>
            <a:ext cx="359633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783080"/>
            <a:ext cx="32305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INFERENCE LATENCY</a:t>
            </a:r>
          </a:p>
          <a:p>
            <a:pPr>
              <a:defRPr sz="1800" b="1">
                <a:solidFill>
                  <a:srgbClr val="059669"/>
                </a:solidFill>
                <a:latin typeface="Segoe UI"/>
              </a:defRPr>
            </a:pPr>
            <a:r>
              <a:t>~32 FPS (Real-Time)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Benchmarked on Tesla T4 GPU. Fully supports real-time 30 FPS traffic stream processing without frame drop.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023360"/>
            <a:ext cx="3596335" cy="2103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4160520"/>
            <a:ext cx="32305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LEGAL FINES ENFORCED</a:t>
            </a:r>
          </a:p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MV Act Sec 129 &amp; 128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Without Helmet: Rs. 1,000 fine</a:t>
            </a:r>
            <a:br/>
            <a:r>
              <a:t>• Triple Riding: Rs. 1,000 fine</a:t>
            </a:r>
            <a:br/>
            <a:r>
              <a:t>• Automatic e-challan citation formatting with Indian HSRP plate binding.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10 / WORKING SYSTEM DEMONSTRATION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Live Dashboard Walkthrough Guide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Demonstrating the integrated software portal across all 4 production interfaces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VIEW 1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Command Overview (/)</a:t>
            </a:r>
          </a:p>
          <a:p>
            <a:br/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Key Features: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Real-time enforcement stats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24 Total Logged Violations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6 Auto-Fined Confirmed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8 Dismissed on Review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Recent activity timestamp feed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VIEW 2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Live Inference (/upload)</a:t>
            </a:r>
          </a:p>
          <a:p>
            <a:br/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Key Features: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Uploads test traffic media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Supports CCTV video &amp; images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Real-time cascade detection card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Displays detected plate number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Auto-fined vs Review status badge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VIEW 3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E-Challan Registry (/violations)</a:t>
            </a:r>
          </a:p>
          <a:p>
            <a:br/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Key Features: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Comprehensive incident audit table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Search &amp; filter by status / type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Inspect evidence modal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Verified plate and timestamp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Legal Rs. 1000 penalty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8308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VIEW 4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Review Queue (/review)</a:t>
            </a:r>
          </a:p>
          <a:p>
            <a:br/>
            <a:pPr>
              <a:defRPr sz="1000" b="1">
                <a:solidFill>
                  <a:srgbClr val="64748B"/>
                </a:solidFill>
                <a:latin typeface="Segoe UI"/>
              </a:defRPr>
            </a:pPr>
            <a:r>
              <a:t>Key Features: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Human-in-the-loop fail-safe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Filters low confidence (&lt;75%) cases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Displays cropped evidence view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Sub-Inspector 'Confirm' action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• Zero false-positive liability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11 / CONCLUSION &amp; IMPACT</a:t>
            </a:r>
          </a:p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Summary of Engineering Achievements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Why this solution stands out as an end-to-end, research-backed AI enforcement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1. 4-Stage Cascade Hierarchy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Eliminated scale variation (50x ratio) by specializing detectors for vehicles, riders, helmets, and plates, reducing false positives.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2. CCTV Adverse Weather Resilience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Published at ICETIST 2026. Modeled night gamma drop, monsoon rain, and motion blur, improving dark condition mAP by +54.7%.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38144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11296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3. Zero Duplicate Fines (ByteTrack)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Kalman filtering and persistent track IDs aggregate video evidence across frames, guaranteeing exactly one fine per vehicle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34256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07408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4. Ethical Confidence Abstention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Threshold-based routing (tau=0.75) directs uncertain cases to a police human review queue, eliminating wrongful legal citations.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30368"/>
            <a:ext cx="1072865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5. Full-Stack Production Readiness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Complete Next.js 14 and Express platform with audit logs, live inference, and e-challan management ready for municipal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